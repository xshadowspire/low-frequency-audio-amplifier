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9" r:id="rId7"/>
    <p:sldId id="262" r:id="rId8"/>
    <p:sldId id="268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E2FC"/>
    <a:srgbClr val="DEE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E746C-06F2-4907-AE5C-341004B59EFB}" v="2" dt="2024-01-16T09:52:3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16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015BCA8-4F01-4D86-9485-5DC1E35EBFDB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D67AA3-719D-41D2-92E8-0058ADCE64B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64888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26" y="6188075"/>
            <a:ext cx="15462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69DE8-5E40-4F59-A536-4E3535E4BD0D}" type="datetimeFigureOut">
              <a:rPr lang="en-US"/>
              <a:pPr>
                <a:defRPr/>
              </a:pPr>
              <a:t>23-Jan-26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81764-BCEA-4297-89EC-E9B9FA6D5FF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1CAC81-6169-4629-9F80-B677A4FE70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21767" y="6120493"/>
            <a:ext cx="661307" cy="661307"/>
          </a:xfrm>
          <a:prstGeom prst="rect">
            <a:avLst/>
          </a:prstGeom>
        </p:spPr>
      </p:pic>
      <p:pic>
        <p:nvPicPr>
          <p:cNvPr id="4" name="Picture 3" descr="A circular logo with a dome and a building in the middle&#10;&#10;Description automatically generated">
            <a:extLst>
              <a:ext uri="{FF2B5EF4-FFF2-40B4-BE49-F238E27FC236}">
                <a16:creationId xmlns:a16="http://schemas.microsoft.com/office/drawing/2014/main" id="{806F23B7-D4CC-0ECB-B4C7-6D89675BB2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" y="266532"/>
            <a:ext cx="673735" cy="677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black and grey logo&#10;&#10;Description automatically generated">
            <a:extLst>
              <a:ext uri="{FF2B5EF4-FFF2-40B4-BE49-F238E27FC236}">
                <a16:creationId xmlns:a16="http://schemas.microsoft.com/office/drawing/2014/main" id="{62F6F635-2965-A334-FFBB-A2C7AAA14B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81" b="-890"/>
          <a:stretch>
            <a:fillRect/>
          </a:stretch>
        </p:blipFill>
        <p:spPr bwMode="auto">
          <a:xfrm>
            <a:off x="7494588" y="364004"/>
            <a:ext cx="1300480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128DF-9211-42C1-924C-6ED55F92EB6B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EDCD3-1747-44F3-96BA-E6130A3B6926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F4FB5-DA46-4B59-B072-6321920AEBB2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EA4A9-FDDE-4124-B7ED-925DC65F17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E5E23-3A4D-4919-B13A-C7C659D9A4C5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B2AB8-832B-49F2-B42A-94633B11C6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D576C-72AA-4F04-A8FA-E6F9A0A78EDE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FF29A-FFB6-4DD6-A464-81F1AA41C05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F9FB2-5FC9-4031-A63F-55468B896A5A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4738C-8B56-494D-BC41-2CE5AB556F8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836D-3339-4785-8DFE-44A62EE29901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08C1A-C322-4EB4-BA9F-19700BBFC06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DAE1D-11A1-49F4-93EC-7199E98355EC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A1D1E-1E28-4485-AF5B-903820166ABD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AC4B3-5A3D-46FF-910E-76BD3CA27CF1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FB3B8-2000-45D4-B347-7E71F848964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33659-CCDF-4DBB-A007-035A35EBFBAD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E8BC2-DD62-47BB-8C21-C4F2D9E1D56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2A60-9143-45D9-9F8D-86CB2F603058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5364C-50A9-4793-ADA7-A5D0D552608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77E9F4-9028-411F-A9B5-35B847CAD700}" type="datetimeFigureOut">
              <a:rPr lang="en-US"/>
              <a:pPr>
                <a:defRPr/>
              </a:pPr>
              <a:t>23-Jan-26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A764CC5-BE13-4CD0-A152-5E42E1160D2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>
    <p:pull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ro-RO" altLang="en-US" sz="2400" b="1" dirty="0">
                <a:latin typeface="Arial" charset="0"/>
                <a:cs typeface="Arial" charset="0"/>
              </a:rPr>
              <a:t>Circuite Electronice Fundamentale 2 – Proiect (CEF2-Pr)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0" y="5715000"/>
            <a:ext cx="441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ro-RO" sz="2000" b="1" dirty="0">
                <a:ea typeface="+mj-ea"/>
              </a:rPr>
              <a:t>Student</a:t>
            </a:r>
            <a:r>
              <a:rPr lang="en-US" sz="2000" b="1" dirty="0">
                <a:ea typeface="+mj-ea"/>
              </a:rPr>
              <a:t>:Pandele Florin </a:t>
            </a:r>
          </a:p>
          <a:p>
            <a:pPr>
              <a:defRPr/>
            </a:pPr>
            <a:r>
              <a:rPr lang="en-US" sz="2000" b="1" dirty="0">
                <a:ea typeface="+mj-ea"/>
              </a:rPr>
              <a:t>Grupa:431E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2004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ea typeface="+mj-ea"/>
              </a:rPr>
              <a:t>Tema:Amplificator</a:t>
            </a:r>
            <a:r>
              <a:rPr lang="en-US" sz="2400" b="1" dirty="0">
                <a:ea typeface="+mj-ea"/>
              </a:rPr>
              <a:t> de </a:t>
            </a:r>
            <a:r>
              <a:rPr lang="en-US" sz="2400" b="1" dirty="0" err="1">
                <a:ea typeface="+mj-ea"/>
              </a:rPr>
              <a:t>tensiune</a:t>
            </a:r>
            <a:r>
              <a:rPr lang="en-US" sz="2400" b="1" dirty="0">
                <a:ea typeface="+mj-ea"/>
              </a:rPr>
              <a:t> (</a:t>
            </a:r>
            <a:r>
              <a:rPr lang="ro-RO" sz="2400" b="1" dirty="0">
                <a:ea typeface="+mj-ea"/>
              </a:rPr>
              <a:t>joasă frecvență</a:t>
            </a:r>
            <a:r>
              <a:rPr lang="en-US" sz="2400" b="1" dirty="0">
                <a:ea typeface="+mj-ea"/>
              </a:rPr>
              <a:t>)</a:t>
            </a:r>
          </a:p>
        </p:txBody>
      </p:sp>
    </p:spTree>
  </p:cSld>
  <p:clrMapOvr>
    <a:masterClrMapping/>
  </p:clrMapOvr>
  <p:transition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en-US" altLang="en-US" sz="2400" b="1" dirty="0">
                <a:latin typeface="Arial" charset="0"/>
                <a:cs typeface="Arial" charset="0"/>
              </a:rPr>
              <a:t>Date de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proiectare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4099" name="Title 1"/>
          <p:cNvSpPr txBox="1">
            <a:spLocks/>
          </p:cNvSpPr>
          <p:nvPr/>
        </p:nvSpPr>
        <p:spPr bwMode="auto">
          <a:xfrm>
            <a:off x="381000" y="16002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proiecteze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realizeze</a:t>
            </a:r>
            <a:r>
              <a:rPr lang="en-US" dirty="0"/>
              <a:t> un </a:t>
            </a:r>
            <a:r>
              <a:rPr lang="en-US" dirty="0" err="1"/>
              <a:t>amplificator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(</a:t>
            </a:r>
            <a:r>
              <a:rPr lang="en-US" dirty="0" err="1"/>
              <a:t>joasă</a:t>
            </a:r>
            <a:r>
              <a:rPr lang="en-US" dirty="0"/>
              <a:t> </a:t>
            </a:r>
            <a:r>
              <a:rPr lang="en-US" dirty="0" err="1"/>
              <a:t>frecvență</a:t>
            </a:r>
            <a:r>
              <a:rPr lang="en-US" dirty="0"/>
              <a:t>) </a:t>
            </a:r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:</a:t>
            </a:r>
          </a:p>
          <a:p>
            <a:pPr>
              <a:buFont typeface="Arial" charset="0"/>
              <a:buChar char="•"/>
            </a:pPr>
            <a:r>
              <a:rPr lang="en-US" dirty="0"/>
              <a:t>N=17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Semnal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, </a:t>
            </a:r>
            <a:r>
              <a:rPr lang="en-US" dirty="0" err="1"/>
              <a:t>ui</a:t>
            </a:r>
            <a:r>
              <a:rPr lang="en-US" dirty="0"/>
              <a:t> in </a:t>
            </a:r>
            <a:r>
              <a:rPr lang="en-US" dirty="0" err="1"/>
              <a:t>gama</a:t>
            </a:r>
            <a:r>
              <a:rPr lang="en-US" dirty="0"/>
              <a:t>: 60N [mV];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Sarcina</a:t>
            </a:r>
            <a:r>
              <a:rPr lang="en-US" dirty="0"/>
              <a:t> la </a:t>
            </a:r>
            <a:r>
              <a:rPr lang="en-US" dirty="0" err="1"/>
              <a:t>ieșire</a:t>
            </a:r>
            <a:r>
              <a:rPr lang="en-US" dirty="0"/>
              <a:t>, RL: 10N [</a:t>
            </a:r>
            <a:r>
              <a:rPr lang="el-GR" dirty="0"/>
              <a:t>Ω</a:t>
            </a:r>
            <a:r>
              <a:rPr lang="en-US" dirty="0"/>
              <a:t>];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Rezistența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Ri &gt;150 [k</a:t>
            </a:r>
            <a:r>
              <a:rPr lang="el-GR" dirty="0"/>
              <a:t>Ω</a:t>
            </a:r>
            <a:r>
              <a:rPr lang="en-US" dirty="0"/>
              <a:t>];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Rezistența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 Ro &lt; 0,1N [</a:t>
            </a:r>
            <a:r>
              <a:rPr lang="el-GR" dirty="0"/>
              <a:t>Ω</a:t>
            </a:r>
            <a:r>
              <a:rPr lang="en-US" dirty="0"/>
              <a:t>];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Amplificare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, Av: 10;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temperaturilor</a:t>
            </a:r>
            <a:r>
              <a:rPr lang="en-US" dirty="0"/>
              <a:t> de </a:t>
            </a:r>
            <a:r>
              <a:rPr lang="en-US" dirty="0" err="1"/>
              <a:t>funcționare</a:t>
            </a:r>
            <a:r>
              <a:rPr lang="en-US" dirty="0"/>
              <a:t>: 00 -70 0C (</a:t>
            </a:r>
            <a:r>
              <a:rPr lang="en-US" dirty="0" err="1"/>
              <a:t>verificabil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temperatură</a:t>
            </a:r>
            <a:r>
              <a:rPr lang="en-US" dirty="0"/>
              <a:t>);</a:t>
            </a:r>
          </a:p>
          <a:p>
            <a:pPr>
              <a:buFont typeface="Arial" charset="0"/>
              <a:buChar char="•"/>
            </a:pPr>
            <a:r>
              <a:rPr lang="en-US" dirty="0" err="1"/>
              <a:t>Semnalizarea</a:t>
            </a:r>
            <a:r>
              <a:rPr lang="en-US" dirty="0"/>
              <a:t> </a:t>
            </a:r>
            <a:r>
              <a:rPr lang="en-US" dirty="0" err="1"/>
              <a:t>prezenței</a:t>
            </a:r>
            <a:r>
              <a:rPr lang="en-US" dirty="0"/>
              <a:t> </a:t>
            </a:r>
            <a:r>
              <a:rPr lang="en-US" dirty="0" err="1"/>
              <a:t>tensiunilor</a:t>
            </a:r>
            <a:r>
              <a:rPr lang="en-US" dirty="0"/>
              <a:t> de </a:t>
            </a:r>
            <a:r>
              <a:rPr lang="en-US" dirty="0" err="1"/>
              <a:t>alimentare</a:t>
            </a:r>
            <a:r>
              <a:rPr lang="en-US" dirty="0"/>
              <a:t> cu </a:t>
            </a:r>
            <a:r>
              <a:rPr lang="en-US" dirty="0" err="1"/>
              <a:t>diodă</a:t>
            </a:r>
            <a:r>
              <a:rPr lang="en-US" dirty="0"/>
              <a:t> de tip LED.</a:t>
            </a:r>
            <a:endParaRPr lang="en-US" altLang="ro-RO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bloc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0E7CF5-D7B0-4D27-A925-BFD5D355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6400"/>
            <a:ext cx="5562600" cy="2662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9A0A48-F3A3-4042-83F0-14D88544E4B5}"/>
              </a:ext>
            </a:extLst>
          </p:cNvPr>
          <p:cNvSpPr txBox="1"/>
          <p:nvPr/>
        </p:nvSpPr>
        <p:spPr>
          <a:xfrm>
            <a:off x="190500" y="4491037"/>
            <a:ext cx="883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Etaj</a:t>
            </a:r>
            <a:r>
              <a:rPr lang="en-US" dirty="0"/>
              <a:t> </a:t>
            </a:r>
            <a:r>
              <a:rPr lang="en-US" dirty="0" err="1"/>
              <a:t>Diferențial</a:t>
            </a:r>
            <a:r>
              <a:rPr lang="en-US" dirty="0"/>
              <a:t> (Q1, Q2):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semnalul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elimină</a:t>
            </a:r>
            <a:r>
              <a:rPr lang="en-US" dirty="0"/>
              <a:t> </a:t>
            </a:r>
            <a:r>
              <a:rPr lang="en-US" dirty="0" err="1"/>
              <a:t>zgomotul</a:t>
            </a:r>
            <a:r>
              <a:rPr lang="en-US" dirty="0"/>
              <a:t> de </a:t>
            </a:r>
            <a:r>
              <a:rPr lang="en-US" dirty="0" err="1"/>
              <a:t>fond.Sursă</a:t>
            </a:r>
            <a:r>
              <a:rPr lang="en-US" dirty="0"/>
              <a:t> &amp; </a:t>
            </a:r>
            <a:r>
              <a:rPr lang="en-US" dirty="0" err="1"/>
              <a:t>Oglindă</a:t>
            </a:r>
            <a:r>
              <a:rPr lang="en-US" dirty="0"/>
              <a:t> de </a:t>
            </a:r>
            <a:r>
              <a:rPr lang="en-US" dirty="0" err="1"/>
              <a:t>Curent</a:t>
            </a:r>
            <a:r>
              <a:rPr lang="en-US" dirty="0"/>
              <a:t>: </a:t>
            </a:r>
            <a:r>
              <a:rPr lang="en-US" dirty="0" err="1"/>
              <a:t>Mențin</a:t>
            </a:r>
            <a:r>
              <a:rPr lang="en-US" dirty="0"/>
              <a:t> </a:t>
            </a:r>
            <a:r>
              <a:rPr lang="en-US" dirty="0" err="1"/>
              <a:t>curenții</a:t>
            </a:r>
            <a:r>
              <a:rPr lang="en-US" dirty="0"/>
              <a:t> </a:t>
            </a:r>
            <a:r>
              <a:rPr lang="en-US" dirty="0" err="1"/>
              <a:t>constanți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stabilitatea</a:t>
            </a:r>
            <a:r>
              <a:rPr lang="en-US" dirty="0"/>
              <a:t> </a:t>
            </a:r>
            <a:r>
              <a:rPr lang="en-US" dirty="0" err="1"/>
              <a:t>termică</a:t>
            </a:r>
            <a:r>
              <a:rPr lang="en-US" dirty="0"/>
              <a:t> a </a:t>
            </a:r>
            <a:r>
              <a:rPr lang="en-US" dirty="0" err="1"/>
              <a:t>circuitului.Emitor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 </a:t>
            </a:r>
            <a:r>
              <a:rPr lang="en-US" dirty="0" err="1"/>
              <a:t>Degenerat</a:t>
            </a:r>
            <a:r>
              <a:rPr lang="en-US" dirty="0"/>
              <a:t> (Q5): </a:t>
            </a:r>
            <a:r>
              <a:rPr lang="en-US" dirty="0" err="1"/>
              <a:t>Realizează</a:t>
            </a:r>
            <a:r>
              <a:rPr lang="en-US" dirty="0"/>
              <a:t> </a:t>
            </a:r>
            <a:r>
              <a:rPr lang="en-US" dirty="0" err="1"/>
              <a:t>amplificarea</a:t>
            </a:r>
            <a:r>
              <a:rPr lang="en-US" dirty="0"/>
              <a:t> </a:t>
            </a:r>
            <a:r>
              <a:rPr lang="en-US" dirty="0" err="1"/>
              <a:t>principală</a:t>
            </a:r>
            <a:r>
              <a:rPr lang="en-US" dirty="0"/>
              <a:t> (mare)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tensiune.Etaj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AB (Q10, Q11):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puterea</a:t>
            </a:r>
            <a:r>
              <a:rPr lang="en-US" dirty="0"/>
              <a:t> </a:t>
            </a:r>
            <a:r>
              <a:rPr lang="en-US" dirty="0" err="1"/>
              <a:t>necesară</a:t>
            </a:r>
            <a:r>
              <a:rPr lang="en-US" dirty="0"/>
              <a:t> la </a:t>
            </a:r>
            <a:r>
              <a:rPr lang="en-US" dirty="0" err="1"/>
              <a:t>ieșire</a:t>
            </a:r>
            <a:r>
              <a:rPr lang="en-US" dirty="0"/>
              <a:t> cu </a:t>
            </a:r>
            <a:r>
              <a:rPr lang="en-US" dirty="0" err="1"/>
              <a:t>randament</a:t>
            </a:r>
            <a:r>
              <a:rPr lang="en-US" dirty="0"/>
              <a:t> bun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distorsiuni</a:t>
            </a:r>
            <a:r>
              <a:rPr lang="en-US" dirty="0"/>
              <a:t> </a:t>
            </a:r>
            <a:r>
              <a:rPr lang="en-US" dirty="0" err="1"/>
              <a:t>minime.Reacție</a:t>
            </a:r>
            <a:r>
              <a:rPr lang="en-US" dirty="0"/>
              <a:t> </a:t>
            </a:r>
            <a:r>
              <a:rPr lang="en-US" dirty="0" err="1"/>
              <a:t>Negativă</a:t>
            </a:r>
            <a:r>
              <a:rPr lang="en-US" dirty="0"/>
              <a:t>: </a:t>
            </a:r>
            <a:r>
              <a:rPr lang="en-US" dirty="0" err="1"/>
              <a:t>Controlează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fixează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amplificării</a:t>
            </a:r>
            <a:r>
              <a:rPr lang="en-US" dirty="0"/>
              <a:t> finale, </a:t>
            </a:r>
            <a:r>
              <a:rPr lang="en-US" dirty="0" err="1"/>
              <a:t>stabilizând</a:t>
            </a:r>
            <a:r>
              <a:rPr lang="en-US" dirty="0"/>
              <a:t> tot </a:t>
            </a:r>
            <a:r>
              <a:rPr lang="en-US" dirty="0" err="1"/>
              <a:t>sistemul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electrică 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147" name="Title 1"/>
          <p:cNvSpPr txBox="1">
            <a:spLocks/>
          </p:cNvSpPr>
          <p:nvPr/>
        </p:nvSpPr>
        <p:spPr bwMode="auto">
          <a:xfrm>
            <a:off x="3048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endParaRPr lang="en-US" altLang="ro-R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52435E-A0F0-4F35-BDFA-FA2D16E24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3023"/>
            <a:ext cx="6934200" cy="3434954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Simulări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7171" name="Title 1"/>
          <p:cNvSpPr txBox="1">
            <a:spLocks/>
          </p:cNvSpPr>
          <p:nvPr/>
        </p:nvSpPr>
        <p:spPr bwMode="auto">
          <a:xfrm>
            <a:off x="1295400" y="1975366"/>
            <a:ext cx="2362201" cy="59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charset="0"/>
              <a:buChar char="•"/>
            </a:pPr>
            <a:endParaRPr lang="en-US" altLang="ro-RO" dirty="0"/>
          </a:p>
          <a:p>
            <a:pPr algn="ctr"/>
            <a:r>
              <a:rPr lang="en-US" altLang="ro-RO" dirty="0" err="1"/>
              <a:t>Tensiuni</a:t>
            </a:r>
            <a:r>
              <a:rPr lang="en-US" altLang="ro-RO" dirty="0"/>
              <a:t>				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8C98A-C604-42B9-BF5F-8E5D8333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6" y="2743200"/>
            <a:ext cx="4267200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3B6CD3-396B-4204-8F83-FD4CA1839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724" y="2743200"/>
            <a:ext cx="4438587" cy="281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01EC2B-9C27-46E4-8BC5-95B52DCCC895}"/>
              </a:ext>
            </a:extLst>
          </p:cNvPr>
          <p:cNvSpPr txBox="1"/>
          <p:nvPr/>
        </p:nvSpPr>
        <p:spPr>
          <a:xfrm>
            <a:off x="5410200" y="1905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Curent</a:t>
            </a:r>
            <a:endParaRPr lang="en-US" dirty="0"/>
          </a:p>
        </p:txBody>
      </p:sp>
    </p:spTree>
  </p:cSld>
  <p:clrMapOvr>
    <a:masterClrMapping/>
  </p:clrMapOvr>
  <p:transition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D061-0487-4832-BFE8-E0739BF5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Simulari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93417-3560-43E0-836D-BAED27752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959" y="2006290"/>
            <a:ext cx="5743542" cy="2037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69DB3F-0C1F-4B9E-9771-71F34B4E9BC5}"/>
              </a:ext>
            </a:extLst>
          </p:cNvPr>
          <p:cNvSpPr txBox="1"/>
          <p:nvPr/>
        </p:nvSpPr>
        <p:spPr>
          <a:xfrm>
            <a:off x="533400" y="1524000"/>
            <a:ext cx="11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2C687-48FA-4A68-997D-422849DC6F4D}"/>
              </a:ext>
            </a:extLst>
          </p:cNvPr>
          <p:cNvSpPr txBox="1"/>
          <p:nvPr/>
        </p:nvSpPr>
        <p:spPr>
          <a:xfrm>
            <a:off x="457200" y="4062055"/>
            <a:ext cx="424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Diagrama</a:t>
            </a:r>
            <a:r>
              <a:rPr lang="en-US"/>
              <a:t> Bode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D785D-2DE3-4F30-80DF-91D239137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59" y="4632778"/>
            <a:ext cx="5311841" cy="203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64919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Layout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28600" y="1447800"/>
            <a:ext cx="8534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dirty="0">
                <a:ea typeface="+mj-ea"/>
              </a:rPr>
              <a:t>Plan de </a:t>
            </a:r>
            <a:r>
              <a:rPr lang="en-US" dirty="0" err="1">
                <a:ea typeface="+mj-ea"/>
              </a:rPr>
              <a:t>plantare</a:t>
            </a:r>
            <a:endParaRPr lang="en-US" dirty="0"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6AEB9-B723-4EF5-A6A4-785D15FD0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57400"/>
            <a:ext cx="4286847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7A2047-BB49-4A3C-B50A-C8402AB7E172}"/>
              </a:ext>
            </a:extLst>
          </p:cNvPr>
          <p:cNvSpPr txBox="1"/>
          <p:nvPr/>
        </p:nvSpPr>
        <p:spPr>
          <a:xfrm>
            <a:off x="457200" y="6096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8FE98-081E-4FC7-BE19-0B6EB2566F86}"/>
              </a:ext>
            </a:extLst>
          </p:cNvPr>
          <p:cNvSpPr txBox="1"/>
          <p:nvPr/>
        </p:nvSpPr>
        <p:spPr>
          <a:xfrm>
            <a:off x="4704755" y="2183857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 </a:t>
            </a:r>
            <a:r>
              <a:rPr lang="en-US" dirty="0" err="1"/>
              <a:t>organizat</a:t>
            </a:r>
            <a:r>
              <a:rPr lang="en-US" dirty="0"/>
              <a:t> </a:t>
            </a:r>
            <a:r>
              <a:rPr lang="en-US" dirty="0" err="1"/>
              <a:t>componentele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semnalul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circule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.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stânga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ieșirea</a:t>
            </a:r>
            <a:r>
              <a:rPr lang="en-US" dirty="0"/>
              <a:t> (LED-urile)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dreapta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previne</a:t>
            </a:r>
            <a:r>
              <a:rPr lang="en-US" dirty="0"/>
              <a:t> </a:t>
            </a:r>
            <a:r>
              <a:rPr lang="en-US" dirty="0" err="1"/>
              <a:t>interferențele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etaje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face </a:t>
            </a:r>
            <a:r>
              <a:rPr lang="en-US" dirty="0" err="1"/>
              <a:t>circuitul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urmărit.Trasee</a:t>
            </a:r>
            <a:r>
              <a:rPr lang="en-US" dirty="0"/>
              <a:t> </a:t>
            </a:r>
            <a:r>
              <a:rPr lang="en-US" dirty="0" err="1"/>
              <a:t>scurte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semnal</a:t>
            </a:r>
            <a:r>
              <a:rPr lang="en-US" dirty="0"/>
              <a:t>: Am </a:t>
            </a:r>
            <a:r>
              <a:rPr lang="en-US" dirty="0" err="1"/>
              <a:t>grupat</a:t>
            </a:r>
            <a:r>
              <a:rPr lang="en-US" dirty="0"/>
              <a:t> </a:t>
            </a:r>
            <a:r>
              <a:rPr lang="en-US" dirty="0" err="1"/>
              <a:t>rezistențele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condensatorii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aproape</a:t>
            </a:r>
            <a:r>
              <a:rPr lang="en-US" dirty="0"/>
              <a:t> de </a:t>
            </a:r>
            <a:r>
              <a:rPr lang="en-US" dirty="0" err="1"/>
              <a:t>tranzistori</a:t>
            </a:r>
            <a:r>
              <a:rPr lang="en-US" dirty="0"/>
              <a:t>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esențial</a:t>
            </a:r>
            <a:r>
              <a:rPr lang="en-US" dirty="0"/>
              <a:t> la un </a:t>
            </a:r>
            <a:r>
              <a:rPr lang="en-US" dirty="0" err="1"/>
              <a:t>amplificator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minimiza</a:t>
            </a:r>
            <a:r>
              <a:rPr lang="en-US" dirty="0"/>
              <a:t> </a:t>
            </a:r>
            <a:r>
              <a:rPr lang="en-US" dirty="0" err="1"/>
              <a:t>zgomotul</a:t>
            </a:r>
            <a:r>
              <a:rPr lang="en-US" dirty="0"/>
              <a:t> de fond.</a:t>
            </a:r>
          </a:p>
        </p:txBody>
      </p:sp>
    </p:spTree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9219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GB" altLang="ro-RO" dirty="0"/>
              <a:t> </a:t>
            </a:r>
            <a:r>
              <a:rPr lang="ro-RO" altLang="ro-RO" dirty="0"/>
              <a:t>Foto forme de undă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Tabele măsurători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Tot ceea ce justifică funcționarea proiectului în specificațiile impuse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ro-RO" altLang="ro-RO" dirty="0">
                <a:solidFill>
                  <a:srgbClr val="FF0000"/>
                </a:solidFill>
              </a:rPr>
              <a:t>Maxim două pagini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52400" y="16002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>
              <a:buFont typeface="Arial" pitchFamily="34" charset="0"/>
              <a:buChar char="•"/>
              <a:defRPr/>
            </a:pPr>
            <a:r>
              <a:rPr lang="ro-RO" dirty="0">
                <a:ea typeface="+mj-ea"/>
              </a:rPr>
              <a:t>Tabel comparativ </a:t>
            </a:r>
            <a:endParaRPr lang="en-US" dirty="0">
              <a:ea typeface="+mj-e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734739"/>
              </p:ext>
            </p:extLst>
          </p:nvPr>
        </p:nvGraphicFramePr>
        <p:xfrm>
          <a:off x="304800" y="2362200"/>
          <a:ext cx="8382000" cy="3777645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Cerințe impuse</a:t>
                      </a:r>
                      <a:endParaRPr kumimoji="0" lang="en-US" alt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simulări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măsurători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dirty="0" err="1"/>
                        <a:t>Sarcina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ieșire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effectLst/>
                        </a:rPr>
                        <a:t>RL</a:t>
                      </a:r>
                      <a:r>
                        <a:rPr lang="en-US" dirty="0"/>
                        <a:t>​=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170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RL=172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dirty="0"/>
                        <a:t>Amplificare în tensiune Av=10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Av=9.80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dirty="0" err="1"/>
                        <a:t>Rezistența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intrare</a:t>
                      </a:r>
                      <a:r>
                        <a:rPr lang="en-US" dirty="0"/>
                        <a:t> Ri&gt;150k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Ri=220.0k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dirty="0" err="1"/>
                        <a:t>Rezistența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ieșire</a:t>
                      </a:r>
                      <a:r>
                        <a:rPr lang="en-US" dirty="0"/>
                        <a:t> Ro&lt;1.7k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Ro=55.4m</a:t>
                      </a:r>
                      <a:r>
                        <a:rPr lang="el-GR" dirty="0"/>
                        <a:t>Ω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0" y="27432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Concluzii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11267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ro-RO" altLang="ro-RO" dirty="0"/>
              <a:t>Se comentează rezultatele obținute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Ce îmbunătățiri ar putea fi aduse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În cazul în care proiectul nu a funcționat la prima încercare, se scot în evidență erorile de concept/realizare (d.p.d.v al proiectării schemei, layout-ului, etc. 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/>
              <a:t>C</a:t>
            </a:r>
            <a:r>
              <a:rPr lang="ro-RO" altLang="ro-RO" dirty="0"/>
              <a:t>um ar putea fi depanat – plan de depanare (organigramă)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Concluzii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12291" name="Title 1"/>
          <p:cNvSpPr txBox="1">
            <a:spLocks/>
          </p:cNvSpPr>
          <p:nvPr/>
        </p:nvSpPr>
        <p:spPr bwMode="auto">
          <a:xfrm>
            <a:off x="152400" y="1524000"/>
            <a:ext cx="876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Ce </a:t>
            </a:r>
            <a:r>
              <a:rPr lang="ro-RO" altLang="ro-RO" dirty="0" err="1"/>
              <a:t>cunoș</a:t>
            </a:r>
            <a:r>
              <a:rPr lang="en-US" altLang="ro-RO" dirty="0"/>
              <a:t>tin</a:t>
            </a:r>
            <a:r>
              <a:rPr lang="ro-RO" altLang="ro-RO" dirty="0"/>
              <a:t>ț</a:t>
            </a:r>
            <a:r>
              <a:rPr lang="en-US" altLang="ro-RO" dirty="0"/>
              <a:t>e au </a:t>
            </a:r>
            <a:r>
              <a:rPr lang="en-US" altLang="ro-RO" dirty="0" err="1"/>
              <a:t>fost</a:t>
            </a:r>
            <a:r>
              <a:rPr lang="en-US" altLang="ro-RO" dirty="0"/>
              <a:t> dob</a:t>
            </a:r>
            <a:r>
              <a:rPr lang="ro-RO" altLang="ro-RO" dirty="0"/>
              <a:t>â</a:t>
            </a:r>
            <a:r>
              <a:rPr lang="en-US" altLang="ro-RO" dirty="0" err="1"/>
              <a:t>ndite</a:t>
            </a:r>
            <a:r>
              <a:rPr lang="en-US" altLang="ro-RO" dirty="0"/>
              <a:t> pe </a:t>
            </a:r>
            <a:r>
              <a:rPr lang="en-US" altLang="ro-RO" dirty="0" err="1"/>
              <a:t>parcursul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ilor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/>
              <a:t>urate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cadrul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 err="1"/>
              <a:t>Eviden</a:t>
            </a:r>
            <a:r>
              <a:rPr lang="ro-RO" altLang="ro-RO" dirty="0"/>
              <a:t>ț</a:t>
            </a:r>
            <a:r>
              <a:rPr lang="en-US" altLang="ro-RO" dirty="0" err="1"/>
              <a:t>ia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, </a:t>
            </a:r>
            <a:r>
              <a:rPr lang="en-US" altLang="ro-RO" dirty="0" err="1"/>
              <a:t>dac</a:t>
            </a:r>
            <a:r>
              <a:rPr lang="ro-RO" altLang="ro-RO" dirty="0"/>
              <a:t>ă</a:t>
            </a:r>
            <a:r>
              <a:rPr lang="en-US" altLang="ro-RO" dirty="0"/>
              <a:t> exist</a:t>
            </a:r>
            <a:r>
              <a:rPr lang="ro-RO" altLang="ro-RO" dirty="0"/>
              <a:t>ă</a:t>
            </a:r>
            <a:r>
              <a:rPr lang="en-US" altLang="ro-RO" dirty="0"/>
              <a:t>,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bune</a:t>
            </a:r>
            <a:r>
              <a:rPr lang="en-US" altLang="ro-RO" dirty="0"/>
              <a:t> legate de </a:t>
            </a:r>
            <a:r>
              <a:rPr lang="en-US" altLang="ro-RO" dirty="0" err="1"/>
              <a:t>activitatea</a:t>
            </a:r>
            <a:r>
              <a:rPr lang="en-US" altLang="ro-RO" dirty="0"/>
              <a:t> </a:t>
            </a:r>
            <a:r>
              <a:rPr lang="en-US" altLang="ro-RO" dirty="0" err="1"/>
              <a:t>depus</a:t>
            </a:r>
            <a:r>
              <a:rPr lang="ro-RO" altLang="ro-RO" dirty="0"/>
              <a:t>ă</a:t>
            </a:r>
            <a:r>
              <a:rPr lang="en-US" altLang="ro-RO" dirty="0"/>
              <a:t> </a:t>
            </a:r>
            <a:r>
              <a:rPr lang="ro-RO" altLang="ro-RO" dirty="0"/>
              <a:t>ș</a:t>
            </a:r>
            <a:r>
              <a:rPr lang="en-US" altLang="ro-RO" dirty="0" err="1"/>
              <a:t>i</a:t>
            </a:r>
            <a:r>
              <a:rPr lang="en-US" altLang="ro-RO" dirty="0"/>
              <a:t>/ </a:t>
            </a:r>
            <a:r>
              <a:rPr lang="en-US" altLang="ro-RO" dirty="0" err="1"/>
              <a:t>sau</a:t>
            </a:r>
            <a:r>
              <a:rPr lang="en-US" altLang="ro-RO" dirty="0"/>
              <a:t> </a:t>
            </a:r>
            <a:r>
              <a:rPr lang="en-US" altLang="ro-RO" dirty="0" err="1"/>
              <a:t>preciza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slabe</a:t>
            </a:r>
            <a:r>
              <a:rPr lang="en-US" altLang="ro-RO" dirty="0"/>
              <a:t> </a:t>
            </a:r>
            <a:r>
              <a:rPr lang="en-US" altLang="ro-RO" dirty="0" err="1"/>
              <a:t>existente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organizarea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ur</a:t>
            </a:r>
            <a:r>
              <a:rPr lang="ro-RO" altLang="ro-RO" dirty="0"/>
              <a:t>ă</a:t>
            </a:r>
            <a:r>
              <a:rPr lang="en-US" altLang="ro-RO" dirty="0" err="1"/>
              <a:t>rii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r>
              <a:rPr lang="ro-RO" altLang="ro-RO" dirty="0"/>
              <a:t> 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Care </a:t>
            </a:r>
            <a:r>
              <a:rPr lang="en-US" altLang="ro-RO" dirty="0" err="1"/>
              <a:t>ar</a:t>
            </a:r>
            <a:r>
              <a:rPr lang="en-US" altLang="ro-RO" dirty="0"/>
              <a:t> fi </a:t>
            </a:r>
            <a:r>
              <a:rPr lang="en-US" altLang="ro-RO" dirty="0" err="1"/>
              <a:t>propunerea</a:t>
            </a:r>
            <a:r>
              <a:rPr lang="en-US" altLang="ro-RO" dirty="0"/>
              <a:t> </a:t>
            </a:r>
            <a:r>
              <a:rPr lang="en-US" altLang="ro-RO" dirty="0" err="1"/>
              <a:t>voastr</a:t>
            </a:r>
            <a:r>
              <a:rPr lang="ro-RO" altLang="ro-RO" dirty="0"/>
              <a:t>ă</a:t>
            </a:r>
            <a:r>
              <a:rPr lang="en-US" altLang="ro-RO" dirty="0"/>
              <a:t>, </a:t>
            </a:r>
            <a:r>
              <a:rPr lang="en-US" altLang="ro-RO" dirty="0" err="1"/>
              <a:t>privind</a:t>
            </a:r>
            <a:r>
              <a:rPr lang="en-US" altLang="ro-RO" dirty="0"/>
              <a:t> </a:t>
            </a:r>
            <a:r>
              <a:rPr lang="en-US" altLang="ro-RO" dirty="0" err="1"/>
              <a:t>modul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care </a:t>
            </a:r>
            <a:r>
              <a:rPr lang="en-US" altLang="ro-RO" dirty="0" err="1"/>
              <a:t>ar</a:t>
            </a:r>
            <a:r>
              <a:rPr lang="en-US" altLang="ro-RO" dirty="0"/>
              <a:t> </a:t>
            </a:r>
            <a:r>
              <a:rPr lang="en-US" altLang="ro-RO" dirty="0" err="1"/>
              <a:t>trebui</a:t>
            </a:r>
            <a:r>
              <a:rPr lang="en-US" altLang="ro-RO" dirty="0"/>
              <a:t> s</a:t>
            </a:r>
            <a:r>
              <a:rPr lang="ro-RO" altLang="ro-RO" dirty="0"/>
              <a:t>ă</a:t>
            </a:r>
            <a:r>
              <a:rPr lang="en-US" altLang="ro-RO" dirty="0"/>
              <a:t> se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oare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cerute</a:t>
            </a:r>
            <a:r>
              <a:rPr lang="en-US" altLang="ro-RO" dirty="0"/>
              <a:t> de </a:t>
            </a:r>
            <a:r>
              <a:rPr lang="en-US" altLang="ro-RO" dirty="0" err="1"/>
              <a:t>proiect</a:t>
            </a:r>
            <a:r>
              <a:rPr lang="en-US" altLang="ro-RO" dirty="0"/>
              <a:t>, </a:t>
            </a:r>
            <a:r>
              <a:rPr lang="en-US" altLang="ro-RO" dirty="0" err="1"/>
              <a:t>pentru</a:t>
            </a:r>
            <a:r>
              <a:rPr lang="en-US" altLang="ro-RO" dirty="0"/>
              <a:t> a se </a:t>
            </a:r>
            <a:r>
              <a:rPr lang="en-US" altLang="ro-RO" dirty="0" err="1"/>
              <a:t>asigura</a:t>
            </a:r>
            <a:r>
              <a:rPr lang="en-US" altLang="ro-RO" dirty="0"/>
              <a:t> </a:t>
            </a:r>
            <a:r>
              <a:rPr lang="en-US" altLang="ro-RO" dirty="0" err="1"/>
              <a:t>finalizarea</a:t>
            </a:r>
            <a:r>
              <a:rPr lang="en-US" altLang="ro-RO" dirty="0"/>
              <a:t> </a:t>
            </a:r>
            <a:r>
              <a:rPr lang="en-US" altLang="ro-RO" dirty="0" err="1"/>
              <a:t>sa</a:t>
            </a:r>
            <a:r>
              <a:rPr lang="en-US" altLang="ro-RO" dirty="0"/>
              <a:t>. </a:t>
            </a:r>
            <a:r>
              <a:rPr lang="en-US" altLang="ro-RO" dirty="0" err="1"/>
              <a:t>Prezenta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</a:t>
            </a:r>
            <a:r>
              <a:rPr lang="en-US" altLang="ro-RO" dirty="0" err="1"/>
              <a:t>diagrama</a:t>
            </a:r>
            <a:r>
              <a:rPr lang="en-US" altLang="ro-RO" dirty="0"/>
              <a:t> Gantt </a:t>
            </a:r>
            <a:r>
              <a:rPr lang="en-US" altLang="ro-RO" dirty="0" err="1"/>
              <a:t>corespunz</a:t>
            </a:r>
            <a:r>
              <a:rPr lang="ro-RO" altLang="ro-RO" dirty="0"/>
              <a:t>ă</a:t>
            </a:r>
            <a:r>
              <a:rPr lang="en-US" altLang="ro-RO" dirty="0" err="1"/>
              <a:t>toare</a:t>
            </a:r>
            <a:r>
              <a:rPr lang="en-US" altLang="ro-RO" dirty="0"/>
              <a:t>.</a:t>
            </a:r>
            <a:endParaRPr lang="ro-RO" altLang="ro-RO" dirty="0"/>
          </a:p>
          <a:p>
            <a:pPr indent="231775"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Discipline studiate utile în realizarea proiectului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e trec disciplinele 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din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care au fost utilizate cunoștințe/informații pentru realizarea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ea typeface="+mj-ea"/>
              <a:cs typeface="Arial" pitchFamily="34" charset="0"/>
            </a:endParaRPr>
          </a:p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Ce discipline,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aflate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semestrele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din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amonte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trebuit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fie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bine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nsu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pentru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urarea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realiz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rii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activit</a:t>
            </a:r>
            <a:r>
              <a:rPr lang="ro-RO" dirty="0" err="1">
                <a:latin typeface="Arial" pitchFamily="34" charset="0"/>
                <a:ea typeface="+mj-ea"/>
                <a:cs typeface="Arial" pitchFamily="34" charset="0"/>
              </a:rPr>
              <a:t>ăț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ilor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conexe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  <a:defRPr/>
            </a:pPr>
            <a:endParaRPr lang="en-US" dirty="0">
              <a:ea typeface="+mj-ea"/>
            </a:endParaRPr>
          </a:p>
          <a:p>
            <a:pPr>
              <a:buFont typeface="Arial" pitchFamily="34" charset="0"/>
              <a:buChar char="•"/>
              <a:defRPr/>
            </a:pPr>
            <a:endParaRPr lang="ro-RO" dirty="0">
              <a:solidFill>
                <a:srgbClr val="FF0000"/>
              </a:solidFill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2635</TotalTime>
  <Words>684</Words>
  <Application>Microsoft Office PowerPoint</Application>
  <PresentationFormat>On-screen Show (4:3)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Circuite Electronice Fundamentale 2 – Proiect (CEF2-Pr) </vt:lpstr>
      <vt:lpstr>Date de proiectare</vt:lpstr>
      <vt:lpstr>Schema bloc</vt:lpstr>
      <vt:lpstr>Schema electrică </vt:lpstr>
      <vt:lpstr>Simulări</vt:lpstr>
      <vt:lpstr>Simulari</vt:lpstr>
      <vt:lpstr>Layout</vt:lpstr>
      <vt:lpstr>Rezultate experimentale</vt:lpstr>
      <vt:lpstr>Rezultate experimentale</vt:lpstr>
      <vt:lpstr>Concluzii</vt:lpstr>
      <vt:lpstr>Concluzii</vt:lpstr>
      <vt:lpstr>Discipline studiate utile în realizarea proiectului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</dc:creator>
  <cp:lastModifiedBy>Pandele</cp:lastModifiedBy>
  <cp:revision>250</cp:revision>
  <dcterms:created xsi:type="dcterms:W3CDTF">2014-01-15T22:07:17Z</dcterms:created>
  <dcterms:modified xsi:type="dcterms:W3CDTF">2026-01-23T18:19:52Z</dcterms:modified>
</cp:coreProperties>
</file>